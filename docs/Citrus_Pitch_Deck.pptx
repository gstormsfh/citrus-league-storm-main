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4A6741"/>
                </a:solidFill>
                <a:latin typeface="Calibri"/>
              </a:defRPr>
            </a:pPr>
            <a:r>
              <a:t>PRE-SEED PITCH  ·  ALPHA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572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202020"/>
                </a:solidFill>
                <a:latin typeface="Georgia"/>
              </a:defRPr>
            </a:pPr>
            <a:r>
              <a:t>CITRUS FANTASY</a:t>
            </a:r>
            <a:br/>
            <a:r>
              <a:t>SPORTS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017520"/>
            <a:ext cx="4114800" cy="54864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202020"/>
                </a:solidFill>
                <a:latin typeface="Georgia"/>
              </a:defRPr>
            </a:pPr>
            <a:r>
              <a:t>Building the world's most accurate Fantasy Hockey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389120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ML-powered fantasy hockey built from 863K real NHL shots across 7 seasons.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31 engineered features · XGBoost v3 + Bayesian Regression · Claude AI (Stormy)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2179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4A6741"/>
                </a:solidFill>
                <a:latin typeface="Calibr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202020"/>
                </a:solidFill>
                <a:latin typeface="Georgia"/>
              </a:defRPr>
            </a:pPr>
            <a:r>
              <a:t>THE FOUNDER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Professional Hockey</a:t>
            </a:r>
            <a:br/>
            <a:r>
              <a:t>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Played at the professional level and coached at the elite level. Deep, lived understanding of hockey analytics — what matters on the 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196596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Chartered</a:t>
            </a:r>
            <a:br/>
            <a:r>
              <a:t>Professional</a:t>
            </a:r>
            <a:br/>
            <a:r>
              <a:t>Accountant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83464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2.5 years of financial rigour. Understands unit economics, CAC, LTV, and how to build a sustainable business — not just a cool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196596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Self-Taught Data</a:t>
            </a:r>
            <a:br/>
            <a:r>
              <a:t>Scientist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Built the 70.9% R² ML engine from scratch. XGBoost v3, Bayesian regression, GAR, GSAx. 95K+ lines of code. No co-founder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202020"/>
                </a:solidFill>
                <a:latin typeface="Georgia"/>
              </a:defRPr>
            </a:pPr>
            <a:r>
              <a:t>THE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202020"/>
                </a:solidFill>
                <a:latin typeface="Calibri"/>
              </a:defRPr>
            </a:pPr>
            <a:r>
              <a:t>2 years building nights and weekends while working full-time as a CPA.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202020"/>
                </a:solidFill>
                <a:latin typeface="Calibri"/>
              </a:defRPr>
            </a:pPr>
            <a:r>
              <a:t>Built the full-stack infrastructure, projection models, and product solo. 95K+ lines of code, 7 ML models, 60+ database tables — every line written by one person with a laptop and a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WHAT IS FANTASY SPORTS?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F5F0E8"/>
                </a:solidFill>
                <a:latin typeface="Calibri"/>
              </a:defRPr>
            </a:pPr>
            <a:r>
              <a:t>Season Long Fantasy Leagues vs. Daily Fantasy Leagues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74320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9144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2860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•  Create a league with friends or join one publicly</a:t>
            </a:r>
            <a:br/>
            <a:r>
              <a:t>•  Draft real NHL players onto your own team</a:t>
            </a:r>
            <a:br/>
            <a:r>
              <a:t>•  Pick up, drop, and trade players with your league throughout the season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560320" cy="274320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MATCHUPS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31720"/>
            <a:ext cx="9144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•  Compete head-to-head against league mates each week</a:t>
            </a:r>
            <a:br/>
            <a:r>
              <a:t>•  Your players earn points based on real NHL performance</a:t>
            </a:r>
            <a:br/>
            <a:r>
              <a:t>•  Manage your lineup, make trades, and work the waiver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560320" cy="274320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CHAMPIONSHIP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331720"/>
            <a:ext cx="9144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2860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•  After the regular season, top teams enter the playoffs</a:t>
            </a:r>
            <a:br/>
            <a:r>
              <a:t>•  Custom playoff formats crown a league champion</a:t>
            </a:r>
            <a:br/>
            <a:r>
              <a:t>•  Bragging rights, prizes, and a reason to watch every game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Citrus offers completely custom scoring and league styles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F5F0E8"/>
                </a:solidFill>
                <a:latin typeface="Georgia"/>
              </a:defRPr>
            </a:pPr>
            <a:r>
              <a:t>Opens the door for ALL users and ALL league types — from casual to hardcore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202020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202020"/>
                </a:solidFill>
                <a:latin typeface="Calibri"/>
              </a:defRPr>
            </a:pPr>
            <a:r>
              <a:t>NHL is the fastest-growing Big 4 sport — and the only one abandoned by major fantasy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702A"/>
                </a:solidFill>
                <a:latin typeface="Georgia"/>
              </a:defRPr>
            </a:pPr>
            <a:r>
              <a:t>5.8M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Adults playing fantasy hockey at the end of 2025 — Mordor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148840"/>
            <a:ext cx="73152" cy="640080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202020"/>
                </a:solidFill>
                <a:latin typeface="Georgia"/>
              </a:defRPr>
            </a:pPr>
            <a:r>
              <a:t>Stale, Inaccurate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7744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Yahoo and ESPN use basic averages that haven't evolved in years. No ML, no play coordinate data, no xG. Projections regularly miss by 30-50%.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337560"/>
            <a:ext cx="73152" cy="640080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2004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202020"/>
                </a:solidFill>
                <a:latin typeface="Georgia"/>
              </a:defRPr>
            </a:pPr>
            <a:r>
              <a:t>No Analytics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56616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Advanced metrics like xG, xA, GAR, and GSAx don't exist on any consumer fantasy platform. Serious players have nowhere to 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526280"/>
            <a:ext cx="73152" cy="640080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43891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202020"/>
                </a:solidFill>
                <a:latin typeface="Georgia"/>
              </a:defRPr>
            </a:pPr>
            <a:r>
              <a:t>High Barrier to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75488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New players feel overwhelmed. Experienced players feel underserved. No platform bridges both worlds.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1">
                <a:solidFill>
                  <a:srgbClr val="4A6741"/>
                </a:solidFill>
                <a:latin typeface="Calibri"/>
              </a:defRPr>
            </a:pPr>
            <a:r>
              <a:t>NHL viewership up 35% since 2020  ·  14.6% CAGR — fastest-growing Big 4  ·  2026 Winter Olympics (Milan) featuring hockey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1">
                <a:solidFill>
                  <a:srgbClr val="F5F0E8"/>
                </a:solidFill>
                <a:latin typeface="Calibri"/>
              </a:defRPr>
            </a:pPr>
            <a:r>
              <a:t>One platform. Four pillars. Every advantage.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931920" cy="21031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CORE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ML Projections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 i="0">
                <a:solidFill>
                  <a:srgbClr val="D4702A"/>
                </a:solidFill>
                <a:latin typeface="Georgia"/>
              </a:defRPr>
            </a:pPr>
            <a:r>
              <a:t>0.817 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657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If you show our model a random goal and a random save, it correctly identifies which is which 81.7% of the time. Born from 8 NHL seasons of data, and 870,000 shots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3931920" cy="21031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FAN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48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Stormy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 i="0">
                <a:solidFill>
                  <a:srgbClr val="D4702A"/>
                </a:solidFill>
                <a:latin typeface="Georgia"/>
              </a:defRPr>
            </a:pPr>
            <a:r>
              <a:t>Claude-Powered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606040"/>
            <a:ext cx="3657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Your personal AI General Manager. Ask lineup questions, evaluate trades, get waiver picks — in plain English. Real-time, roster-aware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931920" cy="21031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97679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LIVE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Real-Time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79"/>
            <a:ext cx="3657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Live WebSocket scoring that updates every 30 seconds during games. Sub-second response. No refreshing, no waiting.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206240"/>
            <a:ext cx="3931920" cy="21031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297679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ANALYTICS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52627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297679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 i="0">
                <a:solidFill>
                  <a:srgbClr val="D4702A"/>
                </a:solidFill>
                <a:latin typeface="Georgia"/>
              </a:defRPr>
            </a:pPr>
            <a:r>
              <a:t>xG · xA · GAR · GSAx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983479"/>
            <a:ext cx="3657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Professional-grade metrics on a consumer platform for the first time. 7 ML models powering the same data NHL front offices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202020"/>
                </a:solidFill>
                <a:latin typeface="Georgia"/>
              </a:defRPr>
            </a:pPr>
            <a:r>
              <a:t>BEST-IN-CLASS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202020"/>
                </a:solidFill>
                <a:latin typeface="Calibri"/>
              </a:defRPr>
            </a:pPr>
            <a:r>
              <a:t>Real season data  ·  Citrus vs Yahoo vs ESPN vs Actual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Player</a:t>
                      </a:r>
                    </a:p>
                  </a:txBody>
                  <a:tcPr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Citrus</a:t>
                      </a:r>
                    </a:p>
                  </a:txBody>
                  <a:tcPr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Yahoo</a:t>
                      </a:r>
                    </a:p>
                  </a:txBody>
                  <a:tcPr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ESPN</a:t>
                      </a:r>
                    </a:p>
                  </a:txBody>
                  <a:tcPr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4A67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Dylan Larkin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741"/>
                          </a:solidFill>
                          <a:latin typeface="Georgia"/>
                        </a:defRPr>
                      </a:pPr>
                      <a:r>
                        <a:t>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14.7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702A"/>
                          </a:solidFill>
                          <a:latin typeface="Georgia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Emil Heineman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741"/>
                          </a:solidFill>
                          <a:latin typeface="Georgia"/>
                        </a:defRPr>
                      </a:pPr>
                      <a:r>
                        <a:t>15.8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702A"/>
                          </a:solidFill>
                          <a:latin typeface="Georgia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Vince Dunn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741"/>
                          </a:solidFill>
                          <a:latin typeface="Georgia"/>
                        </a:defRPr>
                      </a:pPr>
                      <a: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702A"/>
                          </a:solidFill>
                          <a:latin typeface="Georgia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Josh Doan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741"/>
                          </a:solidFill>
                          <a:latin typeface="Georgia"/>
                        </a:defRPr>
                      </a:pPr>
                      <a:r>
                        <a:t>19.2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13.2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Georgia"/>
                        </a:defRPr>
                      </a:pPr>
                      <a:r>
                        <a:t>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702A"/>
                          </a:solidFill>
                          <a:latin typeface="Georgia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8288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702A"/>
                </a:solidFill>
                <a:latin typeface="Georgia"/>
              </a:defRPr>
            </a:pPr>
            <a:r>
              <a:t>70.9%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202020"/>
                </a:solidFill>
                <a:latin typeface="Georgia"/>
              </a:defRPr>
            </a:pPr>
            <a:r>
              <a:t>Player-Season R²</a:t>
            </a:r>
          </a:p>
          <a:p>
            <a:pPr algn="l">
              <a:spcAft>
                <a:spcPts val="400"/>
              </a:spcAft>
              <a:defRPr sz="900" b="0" i="0">
                <a:solidFill>
                  <a:srgbClr val="202020"/>
                </a:solidFill>
                <a:latin typeface="Georgia"/>
              </a:defRPr>
            </a:pPr>
            <a:r>
              <a:t>0.817 AUC-ROC  ·  0.842 Correlation</a:t>
            </a:r>
          </a:p>
          <a:p>
            <a:pPr algn="l">
              <a:spcAft>
                <a:spcPts val="400"/>
              </a:spcAft>
              <a:defRPr sz="900" b="0" i="0">
                <a:solidFill>
                  <a:srgbClr val="202020"/>
                </a:solidFill>
                <a:latin typeface="Georgia"/>
              </a:defRPr>
            </a:pPr>
            <a:r>
              <a:t>591 players validated  ·  863K 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202020"/>
                </a:solidFill>
                <a:latin typeface="Georgia"/>
              </a:defRPr>
            </a:pPr>
            <a:r>
              <a:t>THE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D4702A"/>
                </a:solidFill>
                <a:latin typeface="Georgia"/>
              </a:defRPr>
            </a:pPr>
            <a:r>
              <a:t>Can't Yahoo or ESPN just copy this? 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2+ years of domain-specific engineering across 7 NHL seasons and 863K shots. Our v3 model now exceeds MoneyPuck's published AUC-ROC — with a proprietary calibration pipeline and pass context system (AUC 0.961) that no competitor replicates. This isn't a weekend project. It's a moat.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1">
                <a:solidFill>
                  <a:srgbClr val="4A6741"/>
                </a:solidFill>
                <a:latin typeface="Calibri"/>
              </a:defRPr>
            </a:pPr>
            <a:r>
              <a:t>XGBoost v3 on exact play coordinates · Proprietary multi-layer calibration · Bayesian per-game projections · Opponent-aware difficulty rating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202020"/>
                </a:solidFill>
                <a:latin typeface="Georgia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202020"/>
                </a:solidFill>
                <a:latin typeface="Calibri"/>
              </a:defRPr>
            </a:pPr>
            <a:r>
              <a:t>Global audience  ·  Growing sector  ·  Clear path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D4702A"/>
                </a:solidFill>
                <a:latin typeface="Georgia"/>
              </a:defRPr>
            </a:pPr>
            <a:r>
              <a:t>$32B+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Fantasy Sports TAM</a:t>
            </a:r>
            <a:br/>
            <a:r>
              <a:t>2025 global 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82880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4A6741"/>
                </a:solidFill>
                <a:latin typeface="Georgia"/>
              </a:defRPr>
            </a:pPr>
            <a:r>
              <a:t>1-2B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688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Fantasy Hockey SAM</a:t>
            </a:r>
            <a:br/>
            <a:r>
              <a:t>2025 global 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D4702A"/>
                </a:solidFill>
                <a:latin typeface="Georgia"/>
              </a:defRPr>
            </a:pPr>
            <a:r>
              <a:t>14.6%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CAGR — Fastest</a:t>
            </a:r>
            <a:br/>
            <a:r>
              <a:t>Growing Big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4A6741"/>
                </a:solidFill>
                <a:latin typeface="Georgia"/>
              </a:defRPr>
            </a:pPr>
            <a:r>
              <a:t>5.8M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Active Fantasy</a:t>
            </a:r>
            <a:br/>
            <a:r>
              <a:t>Hockey Adults (NA)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A GLOBAL AUDIENCE FOR THE NHL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202020"/>
                </a:solidFill>
                <a:latin typeface="Calibri"/>
              </a:defRPr>
            </a:pPr>
            <a:r>
              <a:t>Hockey fans worldwide follow the NHL — but have zero dedicated fantasy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4572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▸ 32% of NHL players born outside North America</a:t>
            </a:r>
            <a:br/>
            <a:r>
              <a:t>▸ 20 birth countries on 2025-26 NHL rosters</a:t>
            </a:r>
            <a:br/>
            <a:r>
              <a:t>▸ IIHF Worlds: broadcast in 100+ territories</a:t>
            </a:r>
            <a:br/>
            <a:r>
              <a:t>▸ 50M+ hockey fans across NA &amp; Europe</a:t>
            </a:r>
            <a:br/>
            <a:r>
              <a:t>▸ 84 IIHF member nations — untapped audience</a:t>
            </a:r>
            <a:br/>
            <a:r>
              <a:t>▸ Europe fantasy market: $6.9B, 12.8%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COMPETITIVE LANDSCAPE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977639"/>
            <a:ext cx="32004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02020"/>
                </a:solidFill>
                <a:latin typeface="Georgia"/>
              </a:defRPr>
            </a:pPr>
            <a:r>
              <a:t>Yahoo Fantasy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86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No NHL · Stale projections · Declining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657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D4702A"/>
                </a:solidFill>
                <a:latin typeface="Georgia"/>
              </a:defRPr>
            </a:pPr>
            <a:r>
              <a:t>~60%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663440"/>
            <a:ext cx="32004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343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02020"/>
                </a:solidFill>
                <a:latin typeface="Georgia"/>
              </a:defRPr>
            </a:pPr>
            <a:r>
              <a:t>ESPN Fantasy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572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No NHL · Same bad models · Losing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3434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D4702A"/>
                </a:solidFill>
                <a:latin typeface="Georgia"/>
              </a:defRPr>
            </a:pPr>
            <a:r>
              <a:t>~20%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349240"/>
            <a:ext cx="32004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029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02020"/>
                </a:solidFill>
                <a:latin typeface="Georgia"/>
              </a:defRPr>
            </a:pPr>
            <a:r>
              <a:t>FanTrax / 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57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Niche · No scale · No ML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0292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D4702A"/>
                </a:solidFill>
                <a:latin typeface="Georgia"/>
              </a:defRPr>
            </a:pPr>
            <a:r>
              <a:t>~20%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6035040"/>
            <a:ext cx="3200400" cy="36576"/>
          </a:xfrm>
          <a:prstGeom prst="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5715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02020"/>
                </a:solidFill>
                <a:latin typeface="Georgia"/>
              </a:defRPr>
            </a:pPr>
            <a:r>
              <a:t>Citrus Fantasy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943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Best-in-class ML · AI-powered · Mar 2026 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7150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4A6741"/>
                </a:solidFill>
                <a:latin typeface="Georgia"/>
              </a:defRPr>
            </a:pPr>
            <a:r>
              <a:t>0% → 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EARLY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1">
                <a:solidFill>
                  <a:srgbClr val="F5F0E8"/>
                </a:solidFill>
                <a:latin typeface="Calibri"/>
              </a:defRPr>
            </a:pPr>
            <a:r>
              <a:t>Live product  ·  Real users  ·  Growing engagement  ·  Zero marketing spend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931920" cy="192024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702A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Active Leagues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8288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Multiple league formats running</a:t>
            </a:r>
            <a:br/>
            <a:r>
              <a:t>concurrently in-season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011680"/>
            <a:ext cx="3931920" cy="192024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702A"/>
                </a:solidFill>
                <a:latin typeface="Georgia"/>
              </a:defRPr>
            </a:pPr>
            <a: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Active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246120"/>
            <a:ext cx="18288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33756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Organic growth through word-of-mouth</a:t>
            </a:r>
            <a:br/>
            <a:r>
              <a:t>and hockey communities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931920" cy="192024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702A"/>
                </a:solidFill>
                <a:latin typeface="Georgia"/>
              </a:defRPr>
            </a:pPr>
            <a: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Daily Visits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40679"/>
            <a:ext cx="18288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Consistent daily engagement</a:t>
            </a:r>
            <a:br/>
            <a:r>
              <a:t>across the user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206240"/>
            <a:ext cx="3931920" cy="192024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38912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702A"/>
                </a:solidFill>
                <a:latin typeface="Georgia"/>
              </a:defRPr>
            </a:pPr>
            <a:r>
              <a:t>2+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074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Avg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440679"/>
            <a:ext cx="18288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55321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Deep sessions — users aren't</a:t>
            </a:r>
            <a:br/>
            <a:r>
              <a:t>bouncing, they're managing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1">
                <a:solidFill>
                  <a:srgbClr val="F5F0E8"/>
                </a:solidFill>
                <a:latin typeface="Calibri"/>
              </a:defRPr>
            </a:pPr>
            <a:r>
              <a:t>Alpha launched during 2025-26 NHL season  ·  All growth organic  ·  Product-market fit signal with zero paid acquisition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202020"/>
                </a:solidFill>
                <a:latin typeface="Georgia"/>
              </a:defRPr>
            </a:pPr>
            <a:r>
              <a:t>BUSINESS MODEL + 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202020"/>
                </a:solidFill>
                <a:latin typeface="Calibri"/>
              </a:defRPr>
            </a:pPr>
            <a:r>
              <a:t>Freemium launch  ·  Path to 100K users  ·  Global audience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202020"/>
                </a:solidFill>
                <a:latin typeface="Georgia"/>
              </a:defRPr>
            </a:pPr>
            <a:r>
              <a:t>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FREE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3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Basic projections · Standard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D4702A"/>
                </a:solidFill>
                <a:latin typeface="Georgia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7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39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Advanced ML (70.9% R²) · Full Stormy AI · Schedule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2607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D4702A"/>
                </a:solidFill>
                <a:latin typeface="Georgia"/>
              </a:defRPr>
            </a:pPr>
            <a:r>
              <a:t>$4.99/mo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02020"/>
                </a:solidFill>
                <a:latin typeface="Georgia"/>
              </a:defRPr>
            </a:pPr>
            <a:r>
              <a:t>DFS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5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202020"/>
                </a:solidFill>
                <a:latin typeface="Calibri"/>
              </a:defRPr>
            </a:pPr>
            <a:r>
              <a:t>Daily Fantasy Sports at 100K users · Season-long + weekly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4903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D4702A"/>
                </a:solidFill>
                <a:latin typeface="Georgia"/>
              </a:defRPr>
            </a:pPr>
            <a:r>
              <a:t>12% rake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202020"/>
                </a:solidFill>
                <a:latin typeface="Georgia"/>
              </a:defRPr>
            </a:pPr>
            <a:r>
              <a:t>PATH TO SCALE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2148839"/>
            <a:ext cx="320040" cy="320040"/>
          </a:xfrm>
          <a:prstGeom prst="ellipse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Q1–Q2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Product-market fit · Beta expansion · App Store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4A6741"/>
                </a:solidFill>
                <a:latin typeface="Georgia"/>
              </a:defRPr>
            </a:pPr>
            <a:r>
              <a:t>1,000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317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Georgia"/>
              </a:defRPr>
            </a:pPr>
            <a:r>
              <a:t>$5K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3154679"/>
            <a:ext cx="320040" cy="320040"/>
          </a:xfrm>
          <a:prstGeom prst="ellipse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1089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Q3–Q4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37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Premium launch · Projection accuracy marketing · Reddit/X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4A6741"/>
                </a:solidFill>
                <a:latin typeface="Georgia"/>
              </a:defRPr>
            </a:pPr>
            <a:r>
              <a:t>10,000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3756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Georgia"/>
              </a:defRPr>
            </a:pPr>
            <a:r>
              <a:t>$72K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4160520"/>
            <a:ext cx="320040" cy="320040"/>
          </a:xfrm>
          <a:prstGeom prst="ellipse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114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Q1–Q2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343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European NHL fan expansion · Influencer partnerships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148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4A6741"/>
                </a:solidFill>
                <a:latin typeface="Georgia"/>
              </a:defRPr>
            </a:pPr>
            <a:r>
              <a:t>25,000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3434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Georgia"/>
              </a:defRPr>
            </a:pPr>
            <a:r>
              <a:t>$174K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5166359"/>
            <a:ext cx="320040" cy="320040"/>
          </a:xfrm>
          <a:prstGeom prst="ellipse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5120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Q3–Q4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349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DFS launch · Full vision · Revenue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1206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4A6741"/>
                </a:solidFill>
                <a:latin typeface="Georgia"/>
              </a:defRPr>
            </a:pPr>
            <a:r>
              <a:t>100,000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349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Georgia"/>
              </a:defRPr>
            </a:pPr>
            <a:r>
              <a:t>$1.3M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1">
                <a:solidFill>
                  <a:srgbClr val="4A6741"/>
                </a:solidFill>
                <a:latin typeface="Calibri"/>
              </a:defRPr>
            </a:pPr>
            <a:r>
              <a:t>Sleeper (NFL Specific Comp) Grew to 1,000,000 users in their first year of operation in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4A6741"/>
                </a:solidFill>
                <a:latin typeface="Calibri"/>
              </a:defRPr>
            </a:pPr>
            <a:r>
              <a:t>Global expansion: European NHL fans (Sweden, Finland, Czech Republic, Germany) → Future: NBA / NFL cross-sport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D4702A"/>
                </a:solidFill>
                <a:latin typeface="Georgia"/>
              </a:defRPr>
            </a:pPr>
            <a:r>
              <a:t>$250K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1">
                <a:solidFill>
                  <a:srgbClr val="F5F0E8"/>
                </a:solidFill>
                <a:latin typeface="Calibri"/>
              </a:defRPr>
            </a:pPr>
            <a:r>
              <a:t>24-month runway to $1M+ gross revenue  ·  Cash-flow positive by Month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WHERE IT GOES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88920"/>
            <a:ext cx="36576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Licensing, Legal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07792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$80K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Criminal Code opinion, gaming counsel retainer, contest rules, DFS regulatory filings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1188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935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Marketing &amp; User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93592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$65K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Paid channels, influencer/content partnerships, Oct 2026 season push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29768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Team / Engineering Contractors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79392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$50K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Pull hiring forward to Month 4. Accelerate product velocity.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98348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651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Infrastructure &amp;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65192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$25K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3951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Supabase Team tier, Claude API at scale, proxy rotation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566928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Operating Reserve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650992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$30K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2531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4+ months buffer at peak burn. Never let cash hit zero.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WHY THIS IS A GOOD BET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788920"/>
            <a:ext cx="3657600" cy="36576"/>
          </a:xfrm>
          <a:prstGeom prst="rect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Capital efficient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13639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$250K in → $450K Y2 EBITDA = 1.8x return in 24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93008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Proven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Live alpha with 50+ users, 4 leagues, 2+ min engagement — zero spend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059936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Legally buttoned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270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$80K for gaming counsel, Criminal Code opinion, contest rules — no shortcuts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626864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Massive LTV:CAC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837176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$2.50 CAC vs DraftKings’ $200+. LTV:CAC ratio hits 10x+ in-season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193792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97% gross margins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404104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Pure software. Near-zero marginal COGS at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7607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D4702A"/>
                </a:solidFill>
                <a:latin typeface="Calibri"/>
              </a:defRPr>
            </a:pPr>
            <a:r>
              <a:t>Solo founder = lean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9710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CPA + data scientist + hockey pro. No co-founder bloat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citrusfantasy.com  ·  garrett@citrusfantasy.com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371600"/>
            <a:ext cx="2743200" cy="4114800"/>
          </a:xfrm>
          <a:prstGeom prst="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APPENDIX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TRACTION +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F5F0E8"/>
                </a:solidFill>
                <a:latin typeface="Calibri"/>
              </a:defRPr>
            </a:pPr>
            <a:r>
              <a:t>Fully functional  ·  Live product  ·  Solo founder  ·  Undeniable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D4702A"/>
                </a:solidFill>
                <a:latin typeface="Georgia"/>
              </a:defRPr>
            </a:pPr>
            <a:r>
              <a:t>2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Solo Build</a:t>
            </a:r>
            <a:br/>
            <a:r>
              <a:t>Nights &amp; Weekends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231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Active Users</a:t>
            </a:r>
            <a:br/>
            <a:r>
              <a:t>In-Season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D4702A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Active Leagues</a:t>
            </a:r>
            <a:br/>
            <a:r>
              <a:t>Running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$1K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Total Invested</a:t>
            </a:r>
            <a:br/>
            <a:r>
              <a:t>Bootstrapped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29184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D4702A"/>
                </a:solidFill>
                <a:latin typeface="Georgia"/>
              </a:defRPr>
            </a:pPr>
            <a:r>
              <a:t>70.9%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8862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Player R²</a:t>
            </a:r>
            <a:br/>
            <a:r>
              <a:t>Validated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29184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Mar '26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862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iOS App Store</a:t>
            </a:r>
            <a:br/>
            <a:r>
              <a:t>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THE FOUNDER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6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548640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864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Georgia"/>
              </a:defRPr>
            </a:pPr>
            <a:r>
              <a:t>Professional Hockey Player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521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Played at the professional level. Deep, lived understanding of what matters, what scouts track, what analytics the pros rely 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539496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83280" y="548640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4864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Georgia"/>
              </a:defRPr>
            </a:pPr>
            <a:r>
              <a:t>Chartered Professional Accountant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8521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2.5 years of financial rigour. Understands unit economics, CAC, LTV, and how to build a sustainable business.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5394960"/>
            <a:ext cx="2560320" cy="1188720"/>
          </a:xfrm>
          <a:prstGeom prst="roundRect">
            <a:avLst/>
          </a:prstGeom>
          <a:solidFill>
            <a:srgbClr val="4A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17920" y="5486400"/>
            <a:ext cx="320040" cy="32004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4864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Georgia"/>
              </a:defRPr>
            </a:pPr>
            <a:r>
              <a:t>Self-Taught Data Scientist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8521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Built the 70.9% R² ML engine from scratch. XGBoost, Bayesian regression, GAR, GSAx. 95K+ lines. No co-founder.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HOW WE SEE THE 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F5F0E8"/>
                </a:solidFill>
                <a:latin typeface="Calibri"/>
              </a:defRPr>
            </a:pPr>
            <a:r>
              <a:t>Every shot  ·  31 engineered features  ·  863K shots trained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1188720" cy="9144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F5F0E8"/>
                </a:solidFill>
                <a:latin typeface="Calibri"/>
              </a:defRPr>
            </a:pPr>
            <a:r>
              <a:t>Deep Zone</a:t>
            </a:r>
            <a:br/>
            <a:r>
              <a:t>0.05-0.1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657600"/>
            <a:ext cx="1188720" cy="2286000"/>
          </a:xfrm>
          <a:prstGeom prst="rect">
            <a:avLst/>
          </a:prstGeom>
          <a:solidFill>
            <a:srgbClr val="A0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035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F5F0E8"/>
                </a:solidFill>
                <a:latin typeface="Calibri"/>
              </a:defRPr>
            </a:pPr>
            <a:r>
              <a:t>High Slot</a:t>
            </a:r>
            <a:br/>
            <a:r>
              <a:t>0.2-0.3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743200"/>
            <a:ext cx="1188720" cy="32004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6035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F5F0E8"/>
                </a:solidFill>
                <a:latin typeface="Calibri"/>
              </a:defRPr>
            </a:pPr>
            <a:r>
              <a:t>Slot</a:t>
            </a:r>
            <a:br/>
            <a:r>
              <a:t>0.3-0.4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1188720" cy="4114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6035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F5F0E8"/>
                </a:solidFill>
                <a:latin typeface="Calibri"/>
              </a:defRPr>
            </a:pPr>
            <a:r>
              <a:t>Crease</a:t>
            </a:r>
            <a:br/>
            <a:r>
              <a:t>0.5-0.6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xG v3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F5F0E8"/>
                </a:solidFill>
                <a:latin typeface="Calibri"/>
              </a:defRPr>
            </a:pPr>
            <a:r>
              <a:t>XGBClassifier trained on 863K real NHL shots across 7 seasons. Each shot gets 31 features extracted and a goal probability assigned before the puck crosses the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D4702A"/>
                </a:solidFill>
                <a:latin typeface="Georgia"/>
              </a:defRPr>
            </a:pPr>
            <a:r>
              <a:t>0.817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57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Shot-level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519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Brier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D4702A"/>
                </a:solidFill>
                <a:latin typeface="Georgia"/>
              </a:defRPr>
            </a:pPr>
            <a:r>
              <a:t>0.054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519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Lower = better (perfect: 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Player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D4702A"/>
                </a:solidFill>
                <a:latin typeface="Georgia"/>
              </a:defRPr>
            </a:pPr>
            <a:r>
              <a:t>70.9%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Season-level 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4406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F5F0E8"/>
                </a:solidFill>
                <a:latin typeface="Calibri"/>
              </a:defRPr>
            </a:pPr>
            <a:r>
              <a:t>Log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4068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D4702A"/>
                </a:solidFill>
                <a:latin typeface="Georgia"/>
              </a:defRPr>
            </a:pPr>
            <a:r>
              <a:t>0.200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4406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F5F0E8"/>
                </a:solidFill>
                <a:latin typeface="Calibri"/>
              </a:defRPr>
            </a:pPr>
            <a:r>
              <a:t>Prediction uncertainty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6217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1">
                <a:solidFill>
                  <a:srgbClr val="F5F0E8"/>
                </a:solidFill>
                <a:latin typeface="Calibri"/>
              </a:defRPr>
            </a:pPr>
            <a:r>
              <a:t>Max xG capped at 0.60 per shot · Multi-layer calibration pipeline · 7 seasons of NHL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C3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202020"/>
                </a:solidFill>
                <a:latin typeface="Georgia"/>
              </a:defRPr>
            </a:pPr>
            <a: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202020"/>
                </a:solidFill>
                <a:latin typeface="Calibri"/>
              </a:defRPr>
            </a:pPr>
            <a:r>
              <a:t>End-to-end proprietary stack  ·  Built solo  ·  2+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D4702A"/>
                </a:solidFill>
                <a:latin typeface="Georgia"/>
              </a:defRPr>
            </a:pPr>
            <a:r>
              <a:t>95K+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373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D4702A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373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D4702A"/>
                </a:solidFill>
                <a:latin typeface="Georgia"/>
              </a:defRPr>
            </a:pPr>
            <a:r>
              <a:t>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7373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D4702A"/>
                </a:solidFill>
                <a:latin typeface="Georgia"/>
              </a:defRPr>
            </a:pPr>
            <a: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xG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D4702A"/>
                </a:solidFill>
                <a:latin typeface="Georgia"/>
              </a:defRPr>
            </a:pPr>
            <a:r>
              <a:t>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86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202020"/>
                </a:solidFill>
                <a:latin typeface="Calibri"/>
              </a:defRPr>
            </a:pPr>
            <a:r>
              <a:t>Live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554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29184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Data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4 NHL API endpoints</a:t>
            </a:r>
            <a:br/>
            <a:r>
              <a:t>100-IP proxy rotation</a:t>
            </a:r>
            <a:br/>
            <a:r>
              <a:t>Circuit breaker + backoff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200400"/>
            <a:ext cx="1554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0" y="329184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794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PostgreSQL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9768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60+ tables · 200+ migrations</a:t>
            </a:r>
            <a:br/>
            <a:r>
              <a:t>45+ RLS policies</a:t>
            </a:r>
            <a:br/>
            <a:r>
              <a:t>Immutable raw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200400"/>
            <a:ext cx="1554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0559" y="329184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3794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ML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79" y="3200400"/>
            <a:ext cx="1554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17919" y="329184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19" y="3794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Projection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19" y="429768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Bayesian shrinkage</a:t>
            </a:r>
            <a:br/>
            <a:r>
              <a:t>DDR + finishing talent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200400"/>
            <a:ext cx="1554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3291840"/>
            <a:ext cx="411480" cy="411480"/>
          </a:xfrm>
          <a:prstGeom prst="ellipse">
            <a:avLst/>
          </a:prstGeom>
          <a:solidFill>
            <a:srgbClr val="D4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94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202020"/>
                </a:solidFill>
                <a:latin typeface="Georgia"/>
              </a:defRPr>
            </a:pPr>
            <a:r>
              <a:t>Live App + Stormy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29768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202020"/>
                </a:solidFill>
                <a:latin typeface="Calibri"/>
              </a:defRPr>
            </a:pPr>
            <a:r>
              <a:t>iOS launch 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1">
                <a:solidFill>
                  <a:srgbClr val="4A6741"/>
                </a:solidFill>
                <a:latin typeface="Calibri"/>
              </a:defRPr>
            </a:pPr>
            <a:r>
              <a:t>Enterprise-grade: 7-layer defence · 45+ RLS policies · PKCE auth · Firebase Hosting · Supabase Realtime · 100-IP proxy rotation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